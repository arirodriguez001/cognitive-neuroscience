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Raleway"/>
      <p:regular r:id="rId40"/>
      <p:bold r:id="rId41"/>
      <p:italic r:id="rId42"/>
      <p:boldItalic r:id="rId43"/>
    </p:embeddedFont>
    <p:embeddedFont>
      <p:font typeface="La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regular.fntdata"/><Relationship Id="rId20" Type="http://schemas.openxmlformats.org/officeDocument/2006/relationships/slide" Target="slides/slide15.xml"/><Relationship Id="rId42" Type="http://schemas.openxmlformats.org/officeDocument/2006/relationships/font" Target="fonts/Raleway-italic.fntdata"/><Relationship Id="rId41" Type="http://schemas.openxmlformats.org/officeDocument/2006/relationships/font" Target="fonts/Raleway-bold.fntdata"/><Relationship Id="rId22" Type="http://schemas.openxmlformats.org/officeDocument/2006/relationships/slide" Target="slides/slide17.xml"/><Relationship Id="rId44" Type="http://schemas.openxmlformats.org/officeDocument/2006/relationships/font" Target="fonts/Lato-regular.fntdata"/><Relationship Id="rId21" Type="http://schemas.openxmlformats.org/officeDocument/2006/relationships/slide" Target="slides/slide16.xml"/><Relationship Id="rId43" Type="http://schemas.openxmlformats.org/officeDocument/2006/relationships/font" Target="fonts/Raleway-boldItalic.fntdata"/><Relationship Id="rId24" Type="http://schemas.openxmlformats.org/officeDocument/2006/relationships/slide" Target="slides/slide19.xml"/><Relationship Id="rId46" Type="http://schemas.openxmlformats.org/officeDocument/2006/relationships/font" Target="fonts/Lato-italic.fntdata"/><Relationship Id="rId23" Type="http://schemas.openxmlformats.org/officeDocument/2006/relationships/slide" Target="slides/slide18.xml"/><Relationship Id="rId45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Lat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63d24bed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d63d24bed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63d24bed9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d63d24bed9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63d24bed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63d24bed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63d24bed9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d63d24bed9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643677f5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d643677f5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643677f5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d643677f5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643677f5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d643677f5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643677f5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643677f5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643677f5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d643677f5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d643677f5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d643677f5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643677f5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d643677f5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643677f5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d643677f5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648d9245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d648d9245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63d24bed9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d63d24bed9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63d24bed9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d63d24bed9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d63d24bed9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d63d24bed9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643677f5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643677f5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d643677f5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d643677f5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643677f5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d643677f5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643677f5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d643677f5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643677f5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d643677f5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d643677f5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d643677f5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d643677f5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d643677f5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d643677f5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d643677f5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643677f5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d643677f5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d643677f5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d643677f5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d643677f5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d643677f5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d63d24bed9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d63d24bed9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d63d24bed9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d63d24bed9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d63d24bed9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d63d24bed9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d643677f5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d643677f5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d63d24bed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d63d24bed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d63d24bed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d63d24bed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10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dk1"/>
                </a:solidFill>
              </a:rPr>
              <a:t>La Posición de Letras en Series y su Impacto en la Memoria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2" y="2756838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Experimento y an</a:t>
            </a:r>
            <a:r>
              <a:rPr lang="es-419"/>
              <a:t>álisis de memoria para secuencia de letras</a:t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6631475" y="3716850"/>
            <a:ext cx="2305800" cy="129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-419" sz="1520" u="sng">
                <a:solidFill>
                  <a:schemeClr val="accent3"/>
                </a:solidFill>
              </a:rPr>
              <a:t>Neurociencia Cognitiva</a:t>
            </a:r>
            <a:endParaRPr sz="1520" u="sng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-419" sz="1520"/>
              <a:t>Longo Anabella</a:t>
            </a:r>
            <a:endParaRPr sz="152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-419" sz="1520"/>
              <a:t>Rodriguez </a:t>
            </a:r>
            <a:r>
              <a:rPr lang="es-419" sz="1520"/>
              <a:t>Arianna</a:t>
            </a:r>
            <a:endParaRPr sz="152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-419" sz="1520"/>
              <a:t>Basili Luc</a:t>
            </a:r>
            <a:r>
              <a:rPr lang="es-419" sz="1520"/>
              <a:t>ía</a:t>
            </a:r>
            <a:endParaRPr sz="1520"/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 b="17355" l="0" r="0" t="0"/>
          <a:stretch/>
        </p:blipFill>
        <p:spPr>
          <a:xfrm>
            <a:off x="1071900" y="3470900"/>
            <a:ext cx="2863992" cy="133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Índice: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1116800" y="1853850"/>
            <a:ext cx="7688700" cy="28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419" sz="2000"/>
              <a:t>E</a:t>
            </a:r>
            <a:r>
              <a:rPr lang="es-419" sz="2000"/>
              <a:t>xperimento original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419" sz="2000"/>
              <a:t>Resultados y mejoras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419" sz="2000"/>
              <a:t>Nuevo Experimento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419" sz="2000"/>
              <a:t>Análisis de mejoras		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419" sz="2000"/>
              <a:t>Muestreo de letras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419" sz="2000"/>
              <a:t>Cantidad de letras</a:t>
            </a:r>
            <a:endParaRPr sz="200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7650" y="1392775"/>
            <a:ext cx="1690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Hip</a:t>
            </a:r>
            <a:r>
              <a:rPr lang="es-419"/>
              <a:t>ótesis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2567525" y="2750875"/>
            <a:ext cx="38895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1"/>
                </a:solidFill>
              </a:rPr>
              <a:t>F  S  G  P  M  B  C</a:t>
            </a:r>
            <a:endParaRPr sz="3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  <p:cxnSp>
        <p:nvCxnSpPr>
          <p:cNvPr id="102" name="Google Shape;102;p15"/>
          <p:cNvCxnSpPr/>
          <p:nvPr/>
        </p:nvCxnSpPr>
        <p:spPr>
          <a:xfrm flipH="1" rot="10800000">
            <a:off x="2706909" y="3279901"/>
            <a:ext cx="8100" cy="60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1833850" y="3862325"/>
            <a:ext cx="21609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Primera en leer</a:t>
            </a:r>
            <a:endParaRPr sz="20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cxnSp>
        <p:nvCxnSpPr>
          <p:cNvPr id="104" name="Google Shape;104;p15"/>
          <p:cNvCxnSpPr/>
          <p:nvPr/>
        </p:nvCxnSpPr>
        <p:spPr>
          <a:xfrm flipH="1" rot="10800000">
            <a:off x="5518341" y="2229409"/>
            <a:ext cx="8100" cy="60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4723936" y="1837797"/>
            <a:ext cx="18603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Última</a:t>
            </a:r>
            <a:r>
              <a:rPr lang="es-419" sz="2000"/>
              <a:t> en leer</a:t>
            </a:r>
            <a:endParaRPr sz="20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538625" y="4427800"/>
            <a:ext cx="34560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Mayor impacto y atención</a:t>
            </a:r>
            <a:endParaRPr sz="20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cxnSp>
        <p:nvCxnSpPr>
          <p:cNvPr id="107" name="Google Shape;107;p15"/>
          <p:cNvCxnSpPr/>
          <p:nvPr/>
        </p:nvCxnSpPr>
        <p:spPr>
          <a:xfrm flipH="1" rot="5400000">
            <a:off x="1520351" y="3793128"/>
            <a:ext cx="8100" cy="61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5"/>
          <p:cNvCxnSpPr/>
          <p:nvPr/>
        </p:nvCxnSpPr>
        <p:spPr>
          <a:xfrm flipH="1" rot="10800000">
            <a:off x="1217756" y="4106493"/>
            <a:ext cx="5400" cy="339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6242275" y="1138375"/>
            <a:ext cx="28545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Más reciente en la memoria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cxnSp>
        <p:nvCxnSpPr>
          <p:cNvPr id="110" name="Google Shape;110;p15"/>
          <p:cNvCxnSpPr/>
          <p:nvPr/>
        </p:nvCxnSpPr>
        <p:spPr>
          <a:xfrm rot="10800000">
            <a:off x="5510541" y="1413917"/>
            <a:ext cx="7800" cy="492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5"/>
          <p:cNvCxnSpPr/>
          <p:nvPr/>
        </p:nvCxnSpPr>
        <p:spPr>
          <a:xfrm flipH="1" rot="5400000">
            <a:off x="5816073" y="1108226"/>
            <a:ext cx="8100" cy="61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727650" y="1468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Experimento Original 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999025" y="2217900"/>
            <a:ext cx="7688700" cy="21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s-419" sz="2000"/>
              <a:t>Muestra sucesiva de 7 consonantes aleatorias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s-419" sz="2000"/>
              <a:t>Pregunta sobre la presencia de alguna letra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s-419" sz="2000"/>
              <a:t>An</a:t>
            </a:r>
            <a:r>
              <a:rPr lang="es-419" sz="2000"/>
              <a:t>álisis de porcentaje de aciertos y tiempos de respuesta</a:t>
            </a:r>
            <a:endParaRPr sz="200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</a:t>
            </a:r>
            <a:r>
              <a:rPr lang="es-419" sz="5200">
                <a:solidFill>
                  <a:schemeClr val="lt1"/>
                </a:solidFill>
              </a:rPr>
              <a:t>T</a:t>
            </a:r>
            <a:r>
              <a:rPr lang="es-419" sz="5200"/>
              <a:t> </a:t>
            </a:r>
            <a:r>
              <a:rPr lang="es-419" sz="5200">
                <a:solidFill>
                  <a:srgbClr val="666666"/>
                </a:solidFill>
              </a:rPr>
              <a:t>N W L J S B</a:t>
            </a:r>
            <a:endParaRPr sz="5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</a:t>
            </a:r>
            <a:r>
              <a:rPr lang="es-419" sz="5200">
                <a:solidFill>
                  <a:schemeClr val="lt1"/>
                </a:solidFill>
              </a:rPr>
              <a:t>T N</a:t>
            </a:r>
            <a:r>
              <a:rPr lang="es-419" sz="5200"/>
              <a:t> </a:t>
            </a:r>
            <a:r>
              <a:rPr lang="es-419" sz="5200">
                <a:solidFill>
                  <a:srgbClr val="666666"/>
                </a:solidFill>
              </a:rPr>
              <a:t>W L J S B</a:t>
            </a:r>
            <a:endParaRPr sz="5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>
                <a:solidFill>
                  <a:schemeClr val="lt1"/>
                </a:solidFill>
              </a:rPr>
              <a:t> T N W</a:t>
            </a:r>
            <a:r>
              <a:rPr lang="es-419" sz="5200"/>
              <a:t> </a:t>
            </a:r>
            <a:r>
              <a:rPr lang="es-419" sz="5200">
                <a:solidFill>
                  <a:srgbClr val="666666"/>
                </a:solidFill>
              </a:rPr>
              <a:t>L J S B</a:t>
            </a:r>
            <a:endParaRPr sz="5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</a:t>
            </a:r>
            <a:r>
              <a:rPr lang="es-419" sz="5200">
                <a:solidFill>
                  <a:schemeClr val="lt1"/>
                </a:solidFill>
              </a:rPr>
              <a:t>T N W L</a:t>
            </a:r>
            <a:r>
              <a:rPr lang="es-419" sz="5200"/>
              <a:t> </a:t>
            </a:r>
            <a:r>
              <a:rPr lang="es-419" sz="5200">
                <a:solidFill>
                  <a:srgbClr val="666666"/>
                </a:solidFill>
              </a:rPr>
              <a:t>J S B</a:t>
            </a:r>
            <a:endParaRPr sz="5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</a:t>
            </a:r>
            <a:r>
              <a:rPr lang="es-419" sz="5200">
                <a:solidFill>
                  <a:schemeClr val="lt1"/>
                </a:solidFill>
              </a:rPr>
              <a:t>T N W L J</a:t>
            </a:r>
            <a:r>
              <a:rPr lang="es-419" sz="5200"/>
              <a:t> </a:t>
            </a:r>
            <a:r>
              <a:rPr lang="es-419" sz="5200">
                <a:solidFill>
                  <a:srgbClr val="666666"/>
                </a:solidFill>
              </a:rPr>
              <a:t>S B</a:t>
            </a:r>
            <a:endParaRPr sz="5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>
                <a:solidFill>
                  <a:schemeClr val="lt1"/>
                </a:solidFill>
              </a:rPr>
              <a:t> T N W L J S</a:t>
            </a:r>
            <a:r>
              <a:rPr lang="es-419" sz="5200"/>
              <a:t> </a:t>
            </a:r>
            <a:r>
              <a:rPr lang="es-419" sz="5200">
                <a:solidFill>
                  <a:srgbClr val="666666"/>
                </a:solidFill>
              </a:rPr>
              <a:t>B</a:t>
            </a:r>
            <a:endParaRPr sz="5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>
                <a:solidFill>
                  <a:schemeClr val="lt1"/>
                </a:solidFill>
              </a:rPr>
              <a:t> T N W L J S B</a:t>
            </a:r>
            <a:endParaRPr sz="5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>
                <a:solidFill>
                  <a:schemeClr val="lt1"/>
                </a:solidFill>
              </a:rPr>
              <a:t> Estaba la letra N?</a:t>
            </a:r>
            <a:endParaRPr sz="5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>
                <a:solidFill>
                  <a:schemeClr val="lt1"/>
                </a:solidFill>
              </a:rPr>
              <a:t>(si-no)</a:t>
            </a:r>
            <a:endParaRPr sz="5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727650" y="1468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Experimento Original 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999025" y="2217900"/>
            <a:ext cx="7688700" cy="21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s-419" sz="2000"/>
              <a:t>19 participantes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s-419" sz="2000"/>
              <a:t>Ensayo realizado 30 veces por sujeto</a:t>
            </a:r>
            <a:endParaRPr sz="200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738" y="1477075"/>
            <a:ext cx="6676534" cy="2632713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1080175" y="4144425"/>
            <a:ext cx="6830100" cy="11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/>
              <a:t>Altos porcentajes de aciertos para todas las posiciones</a:t>
            </a:r>
            <a:endParaRPr sz="1700"/>
          </a:p>
          <a:p>
            <a:pPr indent="-3365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/>
              <a:t>Tiempo de respuesta para la posici</a:t>
            </a:r>
            <a:r>
              <a:rPr lang="es-419" sz="1700"/>
              <a:t>ón 6 más baja que para la </a:t>
            </a:r>
            <a:r>
              <a:rPr lang="es-419" sz="1700"/>
              <a:t>7</a:t>
            </a:r>
            <a:r>
              <a:rPr lang="es-419" sz="1700"/>
              <a:t> </a:t>
            </a:r>
            <a:endParaRPr sz="1700"/>
          </a:p>
          <a:p>
            <a:pPr indent="0" lvl="0" marL="45720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3" name="Google Shape;183;p27"/>
          <p:cNvSpPr txBox="1"/>
          <p:nvPr/>
        </p:nvSpPr>
        <p:spPr>
          <a:xfrm>
            <a:off x="1676400" y="80355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Resultados antes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727650" y="1344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Nuevo Experimento, los cambios:  </a:t>
            </a:r>
            <a:endParaRPr/>
          </a:p>
        </p:txBody>
      </p:sp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382000" y="1879850"/>
            <a:ext cx="8636700" cy="28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s-419" sz="2000"/>
              <a:t>Hubo 23 participantes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s-419" sz="2000"/>
              <a:t>Muestra sucesiva de 7, 10 y 13 consonantes aleatorias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s-419" sz="2000"/>
              <a:t>Misma cantidad de tiempo en pantalla para todas las letras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s-419" sz="2000"/>
              <a:t>No se muestran el total de las letras en la pantalla final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s-419" sz="2000"/>
              <a:t>Nos aseguramos de que no hayan distracciones durante el experimento.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s-419" sz="2000"/>
              <a:t>Cruz de fijaci</a:t>
            </a:r>
            <a:r>
              <a:rPr lang="es-419" sz="2000"/>
              <a:t>ón para mayor atención + fondo negro</a:t>
            </a:r>
            <a:endParaRPr sz="200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/>
        </p:nvSpPr>
        <p:spPr>
          <a:xfrm>
            <a:off x="4228200" y="2177050"/>
            <a:ext cx="687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>
                <a:solidFill>
                  <a:schemeClr val="lt1"/>
                </a:solidFill>
              </a:rPr>
              <a:t>+</a:t>
            </a:r>
            <a:endParaRPr sz="5200">
              <a:solidFill>
                <a:schemeClr val="lt1"/>
              </a:solidFill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30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</a:t>
            </a:r>
            <a:r>
              <a:rPr lang="es-419" sz="5200">
                <a:solidFill>
                  <a:schemeClr val="lt1"/>
                </a:solidFill>
              </a:rPr>
              <a:t>T</a:t>
            </a:r>
            <a:r>
              <a:rPr lang="es-419" sz="5200"/>
              <a:t> N W L J S B</a:t>
            </a:r>
            <a:endParaRPr sz="5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</a:t>
            </a:r>
            <a:r>
              <a:rPr lang="es-419" sz="5200">
                <a:solidFill>
                  <a:srgbClr val="FFFFFF"/>
                </a:solidFill>
              </a:rPr>
              <a:t>T N</a:t>
            </a:r>
            <a:r>
              <a:rPr lang="es-419" sz="5200"/>
              <a:t> W L J S B</a:t>
            </a:r>
            <a:endParaRPr sz="5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</a:t>
            </a:r>
            <a:r>
              <a:rPr lang="es-419" sz="5200">
                <a:solidFill>
                  <a:schemeClr val="lt1"/>
                </a:solidFill>
              </a:rPr>
              <a:t>T N W</a:t>
            </a:r>
            <a:r>
              <a:rPr lang="es-419" sz="5200"/>
              <a:t> L J S B</a:t>
            </a:r>
            <a:endParaRPr sz="5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</a:t>
            </a:r>
            <a:r>
              <a:rPr lang="es-419" sz="5200">
                <a:solidFill>
                  <a:srgbClr val="FFFFFF"/>
                </a:solidFill>
              </a:rPr>
              <a:t>T N W L</a:t>
            </a:r>
            <a:r>
              <a:rPr lang="es-419" sz="5200"/>
              <a:t> J S B</a:t>
            </a:r>
            <a:endParaRPr sz="5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34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T </a:t>
            </a:r>
            <a:r>
              <a:rPr lang="es-419" sz="5200">
                <a:solidFill>
                  <a:schemeClr val="lt1"/>
                </a:solidFill>
              </a:rPr>
              <a:t>N W L J</a:t>
            </a:r>
            <a:r>
              <a:rPr lang="es-419" sz="5200"/>
              <a:t> S B</a:t>
            </a:r>
            <a:endParaRPr sz="5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35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T N </a:t>
            </a:r>
            <a:r>
              <a:rPr lang="es-419" sz="5200">
                <a:solidFill>
                  <a:schemeClr val="lt1"/>
                </a:solidFill>
              </a:rPr>
              <a:t>W L J S</a:t>
            </a:r>
            <a:r>
              <a:rPr lang="es-419" sz="5200">
                <a:solidFill>
                  <a:srgbClr val="999999"/>
                </a:solidFill>
              </a:rPr>
              <a:t> </a:t>
            </a:r>
            <a:r>
              <a:rPr lang="es-419" sz="5200"/>
              <a:t>B</a:t>
            </a:r>
            <a:endParaRPr sz="5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36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T N W </a:t>
            </a:r>
            <a:r>
              <a:rPr lang="es-419" sz="5200">
                <a:solidFill>
                  <a:schemeClr val="lt1"/>
                </a:solidFill>
              </a:rPr>
              <a:t>L J S B</a:t>
            </a:r>
            <a:endParaRPr sz="5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T N W L </a:t>
            </a:r>
            <a:r>
              <a:rPr lang="es-419" sz="5200">
                <a:solidFill>
                  <a:srgbClr val="FFFFFF"/>
                </a:solidFill>
              </a:rPr>
              <a:t>J S B</a:t>
            </a:r>
            <a:endParaRPr sz="5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38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T N W L J </a:t>
            </a:r>
            <a:r>
              <a:rPr lang="es-419" sz="5200">
                <a:solidFill>
                  <a:srgbClr val="FFFFFF"/>
                </a:solidFill>
              </a:rPr>
              <a:t>S B</a:t>
            </a:r>
            <a:endParaRPr sz="5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39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/>
              <a:t> T N W L J S </a:t>
            </a:r>
            <a:r>
              <a:rPr lang="es-419" sz="5200">
                <a:solidFill>
                  <a:schemeClr val="lt1"/>
                </a:solidFill>
              </a:rPr>
              <a:t>B</a:t>
            </a:r>
            <a:endParaRPr sz="5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/>
          <p:nvPr/>
        </p:nvSpPr>
        <p:spPr>
          <a:xfrm>
            <a:off x="0" y="0"/>
            <a:ext cx="9144000" cy="154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" name="Google Shape;261;p40"/>
          <p:cNvSpPr txBox="1"/>
          <p:nvPr/>
        </p:nvSpPr>
        <p:spPr>
          <a:xfrm>
            <a:off x="2120250" y="2073000"/>
            <a:ext cx="4903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>
                <a:solidFill>
                  <a:schemeClr val="lt1"/>
                </a:solidFill>
              </a:rPr>
              <a:t> Estaba la letra T?</a:t>
            </a:r>
            <a:endParaRPr sz="5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>
                <a:solidFill>
                  <a:schemeClr val="lt1"/>
                </a:solidFill>
              </a:rPr>
              <a:t>(si-no)</a:t>
            </a:r>
            <a:endParaRPr sz="5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1069275" y="4113050"/>
            <a:ext cx="6830100" cy="11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s-419" sz="1500"/>
              <a:t>Menor</a:t>
            </a:r>
            <a:r>
              <a:rPr lang="es-419" sz="1500"/>
              <a:t> porcentaje de aciertos para las primeras posiciones</a:t>
            </a:r>
            <a:endParaRPr sz="1500"/>
          </a:p>
          <a:p>
            <a:pPr indent="-3238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s-419" sz="1500"/>
              <a:t>Tiempo de respuesta m</a:t>
            </a:r>
            <a:r>
              <a:rPr lang="es-419" sz="1500"/>
              <a:t>ás bajo para la última posición</a:t>
            </a:r>
            <a:r>
              <a:rPr lang="es-419" sz="1500"/>
              <a:t> </a:t>
            </a:r>
            <a:endParaRPr sz="1500"/>
          </a:p>
          <a:p>
            <a:pPr indent="0" lvl="0" marL="45720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67" name="Google Shape;26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50" y="1177875"/>
            <a:ext cx="3780625" cy="28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8200" y="1220500"/>
            <a:ext cx="3780624" cy="2825663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1"/>
          <p:cNvSpPr txBox="1"/>
          <p:nvPr/>
        </p:nvSpPr>
        <p:spPr>
          <a:xfrm>
            <a:off x="2298075" y="518000"/>
            <a:ext cx="437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Resultados para 7 letras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idx="1" type="body"/>
          </p:nvPr>
        </p:nvSpPr>
        <p:spPr>
          <a:xfrm>
            <a:off x="261750" y="4073475"/>
            <a:ext cx="86205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s-419" sz="1500"/>
              <a:t>Menor porcentaje de aciertos para las posiciones centrales, las extremas se mantienen</a:t>
            </a:r>
            <a:endParaRPr sz="1500"/>
          </a:p>
          <a:p>
            <a:pPr indent="-3238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s-419" sz="1500"/>
              <a:t>Tiempo de respuesta más bajo para la última posición </a:t>
            </a:r>
            <a:endParaRPr sz="1500"/>
          </a:p>
          <a:p>
            <a:pPr indent="0" lvl="0" marL="45720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75" name="Google Shape;27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425" y="856856"/>
            <a:ext cx="4130050" cy="3086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050" y="837925"/>
            <a:ext cx="4130050" cy="312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idx="1" type="body"/>
          </p:nvPr>
        </p:nvSpPr>
        <p:spPr>
          <a:xfrm>
            <a:off x="677250" y="4104600"/>
            <a:ext cx="7789500" cy="7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s-419" sz="1500"/>
              <a:t>Menor porcentaje de aciertos en todas las posiciones pero muy alto en la </a:t>
            </a:r>
            <a:r>
              <a:rPr lang="es-419" sz="1500"/>
              <a:t>última</a:t>
            </a:r>
            <a:endParaRPr sz="1500"/>
          </a:p>
          <a:p>
            <a:pPr indent="-3238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s-419" sz="1500"/>
              <a:t>Tiempo de respuesta más bajo para la última posición y muy alto para la del medio</a:t>
            </a:r>
            <a:endParaRPr sz="1500"/>
          </a:p>
          <a:p>
            <a:pPr indent="0" lvl="0" marL="45720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82" name="Google Shape;28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250" y="862350"/>
            <a:ext cx="3951526" cy="298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1525" y="892950"/>
            <a:ext cx="4017625" cy="301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4"/>
          <p:cNvPicPr preferRelativeResize="0"/>
          <p:nvPr/>
        </p:nvPicPr>
        <p:blipFill rotWithShape="1">
          <a:blip r:embed="rId3">
            <a:alphaModFix/>
          </a:blip>
          <a:srcRect b="0" l="0" r="0" t="5979"/>
          <a:stretch/>
        </p:blipFill>
        <p:spPr>
          <a:xfrm>
            <a:off x="2175" y="924350"/>
            <a:ext cx="2229425" cy="1668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4"/>
          <p:cNvPicPr preferRelativeResize="0"/>
          <p:nvPr/>
        </p:nvPicPr>
        <p:blipFill rotWithShape="1">
          <a:blip r:embed="rId4">
            <a:alphaModFix/>
          </a:blip>
          <a:srcRect b="0" l="0" r="0" t="6138"/>
          <a:stretch/>
        </p:blipFill>
        <p:spPr>
          <a:xfrm>
            <a:off x="2175" y="3145050"/>
            <a:ext cx="2229425" cy="164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" name="Google Shape;290;p44"/>
          <p:cNvCxnSpPr/>
          <p:nvPr/>
        </p:nvCxnSpPr>
        <p:spPr>
          <a:xfrm>
            <a:off x="2342550" y="507200"/>
            <a:ext cx="0" cy="468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91" name="Google Shape;29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6975" y="915225"/>
            <a:ext cx="2229425" cy="1686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6400" y="3145042"/>
            <a:ext cx="2229425" cy="1666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06975" y="3145050"/>
            <a:ext cx="2229425" cy="1666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36400" y="915227"/>
            <a:ext cx="2229425" cy="1686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97393" y="915227"/>
            <a:ext cx="2229425" cy="1686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97400" y="3141190"/>
            <a:ext cx="2229425" cy="167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4"/>
          <p:cNvSpPr txBox="1"/>
          <p:nvPr/>
        </p:nvSpPr>
        <p:spPr>
          <a:xfrm>
            <a:off x="651588" y="422625"/>
            <a:ext cx="93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antes</a:t>
            </a:r>
            <a:endParaRPr sz="800"/>
          </a:p>
        </p:txBody>
      </p:sp>
      <p:sp>
        <p:nvSpPr>
          <p:cNvPr id="298" name="Google Shape;298;p44"/>
          <p:cNvSpPr txBox="1"/>
          <p:nvPr/>
        </p:nvSpPr>
        <p:spPr>
          <a:xfrm>
            <a:off x="5138950" y="422625"/>
            <a:ext cx="122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después</a:t>
            </a:r>
            <a:endParaRPr sz="80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Conclusiones</a:t>
            </a:r>
            <a:endParaRPr/>
          </a:p>
        </p:txBody>
      </p:sp>
      <p:sp>
        <p:nvSpPr>
          <p:cNvPr id="304" name="Google Shape;304;p45"/>
          <p:cNvSpPr txBox="1"/>
          <p:nvPr>
            <p:ph idx="1" type="body"/>
          </p:nvPr>
        </p:nvSpPr>
        <p:spPr>
          <a:xfrm>
            <a:off x="882450" y="2051600"/>
            <a:ext cx="7382700" cy="23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/>
              <a:t>A mayor cantidad de letras bajaron los porcentajes de aciertos excepto para la </a:t>
            </a:r>
            <a:r>
              <a:rPr lang="es-419" sz="1700"/>
              <a:t>última</a:t>
            </a:r>
            <a:r>
              <a:rPr lang="es-419" sz="1700"/>
              <a:t> posición.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/>
              <a:t>Tiempos de respuesta considerablemente m</a:t>
            </a:r>
            <a:r>
              <a:rPr lang="es-419" sz="1700"/>
              <a:t>ás bajos para las últimas posiciones.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/>
              <a:t>El tiempo de pantalla de las letras afecta </a:t>
            </a:r>
            <a:r>
              <a:rPr lang="es-419" sz="1700"/>
              <a:t>al porcentaje de aciertos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/>
              <a:t>Que se dejen de ver las primeras letras afecta al memorizarlas</a:t>
            </a:r>
            <a:endParaRPr sz="17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/>
          <p:nvPr>
            <p:ph type="title"/>
          </p:nvPr>
        </p:nvSpPr>
        <p:spPr>
          <a:xfrm>
            <a:off x="1926150" y="2229425"/>
            <a:ext cx="5291700" cy="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740">
                <a:solidFill>
                  <a:schemeClr val="dk1"/>
                </a:solidFill>
              </a:rPr>
              <a:t>Gracias por escuchar!</a:t>
            </a:r>
            <a:endParaRPr sz="374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